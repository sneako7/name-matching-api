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Instrument Sans Medium"/>
      <p:regular r:id="rId19"/>
    </p:embeddedFont>
    <p:embeddedFont>
      <p:font typeface="Instrument Sans Medium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  <p:embeddedFont>
      <p:font typeface="Open Sans"/>
      <p:regular r:id="rId25"/>
    </p:embeddedFont>
    <p:embeddedFont>
      <p:font typeface="Open Sans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938343"/>
            <a:ext cx="7556421" cy="1700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50"/>
              </a:lnSpc>
              <a:buNone/>
            </a:pPr>
            <a:r>
              <a:rPr lang="en-US" sz="3550" u="sng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Optimized Name Matching API:</a:t>
            </a:r>
            <a:pPr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Advanced Techniques &amp; Customizable Parameters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280190" y="491132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10" y="4918948"/>
            <a:ext cx="347663" cy="3476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56440" y="4894421"/>
            <a:ext cx="135183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by Ashley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7393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17802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5" name="Text 2"/>
          <p:cNvSpPr/>
          <p:nvPr/>
        </p:nvSpPr>
        <p:spPr>
          <a:xfrm>
            <a:off x="982742" y="5263039"/>
            <a:ext cx="13239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5178028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Compares farmer names across multiple sources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667" y="517802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8" name="Text 5"/>
          <p:cNvSpPr/>
          <p:nvPr/>
        </p:nvSpPr>
        <p:spPr>
          <a:xfrm>
            <a:off x="7589996" y="5263039"/>
            <a:ext cx="18752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8165783" y="5178028"/>
            <a:ext cx="56709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Uses FastAPI for REST endpoints &amp; SQLAlchemy for DB interactions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642544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1" name="Text 8"/>
          <p:cNvSpPr/>
          <p:nvPr/>
        </p:nvSpPr>
        <p:spPr>
          <a:xfrm>
            <a:off x="950714" y="6510457"/>
            <a:ext cx="19633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1530906" y="6425446"/>
            <a:ext cx="56709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Incorporates advanced normalization, phonetic matching, TF-IDF, and fuzzy matching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428667" y="642544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4" name="Text 11"/>
          <p:cNvSpPr/>
          <p:nvPr/>
        </p:nvSpPr>
        <p:spPr>
          <a:xfrm>
            <a:off x="7580471" y="6510457"/>
            <a:ext cx="20657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2650" dirty="0"/>
          </a:p>
        </p:txBody>
      </p:sp>
      <p:sp>
        <p:nvSpPr>
          <p:cNvPr id="15" name="Text 12"/>
          <p:cNvSpPr/>
          <p:nvPr/>
        </p:nvSpPr>
        <p:spPr>
          <a:xfrm>
            <a:off x="8165783" y="6425446"/>
            <a:ext cx="56709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Tunable parameters to optimize matching accuracy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869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Database Models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49103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5" name="Text 2"/>
          <p:cNvSpPr/>
          <p:nvPr/>
        </p:nvSpPr>
        <p:spPr>
          <a:xfrm>
            <a:off x="6469142" y="3576042"/>
            <a:ext cx="13239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3491032"/>
            <a:ext cx="29277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 tables: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017306" y="3990023"/>
            <a:ext cx="29277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farmer_registration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017306" y="4432221"/>
            <a:ext cx="29277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farmer_details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171867" y="349103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0" name="Text 7"/>
          <p:cNvSpPr/>
          <p:nvPr/>
        </p:nvSpPr>
        <p:spPr>
          <a:xfrm>
            <a:off x="10333196" y="3576042"/>
            <a:ext cx="18752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10908983" y="3491032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Columns include various name fields (registration, aadhaar, kb, bank)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27708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3" name="Text 10"/>
          <p:cNvSpPr/>
          <p:nvPr/>
        </p:nvSpPr>
        <p:spPr>
          <a:xfrm>
            <a:off x="6437114" y="5362099"/>
            <a:ext cx="19633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27708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Additional flags &amp; accuracy scores to track AI matching results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46471"/>
            <a:ext cx="64703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Advanced Normalization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55056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5" name="Text 2"/>
          <p:cNvSpPr/>
          <p:nvPr/>
        </p:nvSpPr>
        <p:spPr>
          <a:xfrm>
            <a:off x="6469142" y="3635573"/>
            <a:ext cx="13239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3550563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Converts names to lowercase and trims whitespace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55056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8" name="Text 5"/>
          <p:cNvSpPr/>
          <p:nvPr/>
        </p:nvSpPr>
        <p:spPr>
          <a:xfrm>
            <a:off x="10333196" y="3635573"/>
            <a:ext cx="18752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10908983" y="3550563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Removes punctuation &amp; extra spaces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12123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1" name="Text 8"/>
          <p:cNvSpPr/>
          <p:nvPr/>
        </p:nvSpPr>
        <p:spPr>
          <a:xfrm>
            <a:off x="6437114" y="5206246"/>
            <a:ext cx="19633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7017306" y="512123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Applies regex-based substitutions for Bengali phonetics: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017306" y="562022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e.g., "mohammad" becomes "md", 'v' to 'bh', 'a' to 'o', etc.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814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0689" y="3271242"/>
            <a:ext cx="6618208" cy="67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Phonetic Code Generation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50689" y="4504492"/>
            <a:ext cx="482560" cy="482560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5" name="Text 2"/>
          <p:cNvSpPr/>
          <p:nvPr/>
        </p:nvSpPr>
        <p:spPr>
          <a:xfrm>
            <a:off x="929283" y="4584859"/>
            <a:ext cx="125254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1447681" y="4504492"/>
            <a:ext cx="3536394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Uses double metaphone to generate phonetic codes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198507" y="4504492"/>
            <a:ext cx="482560" cy="482560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8" name="Text 5"/>
          <p:cNvSpPr/>
          <p:nvPr/>
        </p:nvSpPr>
        <p:spPr>
          <a:xfrm>
            <a:off x="5351145" y="4584859"/>
            <a:ext cx="177284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5895499" y="4504492"/>
            <a:ext cx="3536394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Example: Generates a code like "P0:NULL" for names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9646325" y="4504492"/>
            <a:ext cx="482560" cy="482560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11" name="Text 8"/>
          <p:cNvSpPr/>
          <p:nvPr/>
        </p:nvSpPr>
        <p:spPr>
          <a:xfrm>
            <a:off x="9794677" y="4584859"/>
            <a:ext cx="185738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10343317" y="4504492"/>
            <a:ext cx="3536394" cy="1029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Helps in comparing names based on pronunciation rather than spelling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50689" y="5989915"/>
            <a:ext cx="482560" cy="482560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14" name="Text 11"/>
          <p:cNvSpPr/>
          <p:nvPr/>
        </p:nvSpPr>
        <p:spPr>
          <a:xfrm>
            <a:off x="894278" y="6070283"/>
            <a:ext cx="195382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1447681" y="5989915"/>
            <a:ext cx="12432030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Example: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447681" y="6461879"/>
            <a:ext cx="12432030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'John' → 'JN'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447681" y="6880146"/>
            <a:ext cx="12432030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'Jon' → 'JN' (Same phonetic code as 'John')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447681" y="7298412"/>
            <a:ext cx="12432030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'Ashleigh' → 'Ashley' (Same phonetic representation)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149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115" y="3192066"/>
            <a:ext cx="5229939" cy="653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TF-IDF Vectorization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32115" y="4394835"/>
            <a:ext cx="470654" cy="470654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5" name="Text 2"/>
          <p:cNvSpPr/>
          <p:nvPr/>
        </p:nvSpPr>
        <p:spPr>
          <a:xfrm>
            <a:off x="906304" y="4473178"/>
            <a:ext cx="122158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411962" y="4394835"/>
            <a:ext cx="3569375" cy="669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TF-IDF vectorizer is trained on phonetic codes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90530" y="4394835"/>
            <a:ext cx="470654" cy="470654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8" name="Text 5"/>
          <p:cNvSpPr/>
          <p:nvPr/>
        </p:nvSpPr>
        <p:spPr>
          <a:xfrm>
            <a:off x="5339358" y="4473178"/>
            <a:ext cx="172879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5870377" y="4394835"/>
            <a:ext cx="3569375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Configured with: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870377" y="4855012"/>
            <a:ext cx="3569375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Analyzer: char_wb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70377" y="5262801"/>
            <a:ext cx="3569375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ngram_range: (2, 4)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870377" y="5670590"/>
            <a:ext cx="3569375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min_df: 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648944" y="4394835"/>
            <a:ext cx="470654" cy="470654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4" name="Text 11"/>
          <p:cNvSpPr/>
          <p:nvPr/>
        </p:nvSpPr>
        <p:spPr>
          <a:xfrm>
            <a:off x="9793724" y="4473178"/>
            <a:ext cx="181094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450" dirty="0"/>
          </a:p>
        </p:txBody>
      </p:sp>
      <p:sp>
        <p:nvSpPr>
          <p:cNvPr id="15" name="Text 12"/>
          <p:cNvSpPr/>
          <p:nvPr/>
        </p:nvSpPr>
        <p:spPr>
          <a:xfrm>
            <a:off x="10328791" y="4394835"/>
            <a:ext cx="3569375" cy="669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Cosine similarity is used to compare the TF-IDF vectors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32115" y="6449735"/>
            <a:ext cx="470654" cy="470654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7" name="Text 14"/>
          <p:cNvSpPr/>
          <p:nvPr/>
        </p:nvSpPr>
        <p:spPr>
          <a:xfrm>
            <a:off x="872133" y="6528078"/>
            <a:ext cx="190500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1411962" y="6449735"/>
            <a:ext cx="12486323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Example: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11962" y="6909911"/>
            <a:ext cx="12486323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'Rahul' vs 'Raul' → Cosine similarity: 0.78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11962" y="7317700"/>
            <a:ext cx="12486323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'Pritam' vs 'Preetam' → Cosine similarity: 0.85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4746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Fuzzy Matching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95155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5" name="Text 2"/>
          <p:cNvSpPr/>
          <p:nvPr/>
        </p:nvSpPr>
        <p:spPr>
          <a:xfrm>
            <a:off x="6469142" y="2036564"/>
            <a:ext cx="13239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1951553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Uses RapidFuzz library methods: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017306" y="2813447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token_sort_ratio, partial_ratio, QRatio, WRatio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195155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9" name="Text 6"/>
          <p:cNvSpPr/>
          <p:nvPr/>
        </p:nvSpPr>
        <p:spPr>
          <a:xfrm>
            <a:off x="10333196" y="2036564"/>
            <a:ext cx="18752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1951553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a similarity score based on edit distances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80190" y="438411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2" name="Text 9"/>
          <p:cNvSpPr/>
          <p:nvPr/>
        </p:nvSpPr>
        <p:spPr>
          <a:xfrm>
            <a:off x="6437114" y="4469130"/>
            <a:ext cx="19633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017306" y="4384119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Compensates for typos and ordering differences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10171867" y="438411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5" name="Text 12"/>
          <p:cNvSpPr/>
          <p:nvPr/>
        </p:nvSpPr>
        <p:spPr>
          <a:xfrm>
            <a:off x="10323671" y="4469130"/>
            <a:ext cx="20657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2650" dirty="0"/>
          </a:p>
        </p:txBody>
      </p:sp>
      <p:sp>
        <p:nvSpPr>
          <p:cNvPr id="16" name="Text 13"/>
          <p:cNvSpPr/>
          <p:nvPr/>
        </p:nvSpPr>
        <p:spPr>
          <a:xfrm>
            <a:off x="10908983" y="4384119"/>
            <a:ext cx="292774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Example: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10908983" y="4883110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'Sanjay Kumar' vs 'Sanjay K.' → Fuzzy score: 92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10908983" y="6051113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'Mohammed' vs 'Md' → Fuzzy score: 89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10908983" y="6856214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'Rohit' vs 'Rohith' → Fuzzy score: 94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82028"/>
            <a:ext cx="74631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Hybrid Similarity Calculation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28611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5" name="Text 2"/>
          <p:cNvSpPr/>
          <p:nvPr/>
        </p:nvSpPr>
        <p:spPr>
          <a:xfrm>
            <a:off x="6469142" y="2371130"/>
            <a:ext cx="13239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2286119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Combined score = (TF-IDF score * tfidf_weight) + (Fuzzy score * fuzzy_weight)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28611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8" name="Text 5"/>
          <p:cNvSpPr/>
          <p:nvPr/>
        </p:nvSpPr>
        <p:spPr>
          <a:xfrm>
            <a:off x="10333196" y="2371130"/>
            <a:ext cx="18752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10908983" y="2286119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Tunable weights (must sum to 1.0):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908983" y="3148013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e.g., tfidf_weight=0.6 &amp; fuzzy_weight=0.4 or tfidf=0.25 &amp; fuzzy=0.75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80190" y="471868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2" name="Text 9"/>
          <p:cNvSpPr/>
          <p:nvPr/>
        </p:nvSpPr>
        <p:spPr>
          <a:xfrm>
            <a:off x="6437114" y="4803696"/>
            <a:ext cx="19633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017306" y="471868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Minimum matching threshold set at 0.45 for a positive match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017306" y="521767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Example: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017306" y="5716667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'Amit Kumar' vs 'Amith Kumar' → (TF-IDF 0.7 * 0.6) + (Fuzzy 0.9 * 0.4) = 0.78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017306" y="6521768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'Suresh Raina' vs 'Suresh Kumar Raina' → (TF-IDF 0.65 * 0.6) + (Fuzzy 0.85 * 0.4) = 0.72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743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" y="917138"/>
            <a:ext cx="4975741" cy="639746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01370" y="561737"/>
            <a:ext cx="7714059" cy="1276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Tunable Parameters &amp; Endpoints</a:t>
            </a:r>
            <a:endParaRPr lang="en-US" sz="4000" dirty="0"/>
          </a:p>
        </p:txBody>
      </p:sp>
      <p:sp>
        <p:nvSpPr>
          <p:cNvPr id="5" name="Shape 1"/>
          <p:cNvSpPr/>
          <p:nvPr/>
        </p:nvSpPr>
        <p:spPr>
          <a:xfrm>
            <a:off x="6201370" y="2374702"/>
            <a:ext cx="459581" cy="459581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6" name="Text 2"/>
          <p:cNvSpPr/>
          <p:nvPr/>
        </p:nvSpPr>
        <p:spPr>
          <a:xfrm>
            <a:off x="6371511" y="2451259"/>
            <a:ext cx="119182" cy="306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6865144" y="2374702"/>
            <a:ext cx="3091220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Tunable Parameters: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865144" y="2824043"/>
            <a:ext cx="3091220" cy="98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tfidf_weight &amp; fuzzy_weight (configurable via URL query parameters)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865144" y="3927038"/>
            <a:ext cx="3091220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 Usage: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865144" y="4376380"/>
            <a:ext cx="3091220" cy="1634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Call: </a:t>
            </a:r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FBFBF"/>
                </a:solidFill>
                <a:highlight>
                  <a:srgbClr val="49490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/update_farmer_registration?tfidf_weight=0.5&amp;fuzzy_weight=0.5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0160556" y="2374702"/>
            <a:ext cx="459581" cy="459581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12" name="Text 8"/>
          <p:cNvSpPr/>
          <p:nvPr/>
        </p:nvSpPr>
        <p:spPr>
          <a:xfrm>
            <a:off x="10305931" y="2451259"/>
            <a:ext cx="168831" cy="306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10824329" y="2374702"/>
            <a:ext cx="3091220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 POST Endpoints: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0824329" y="2824043"/>
            <a:ext cx="3091220" cy="98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/update_farmer_registration: processes farmer_registration table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0824329" y="3875961"/>
            <a:ext cx="3091220" cy="98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/update_farmer_details: processes farmer_details table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201370" y="6444496"/>
            <a:ext cx="459581" cy="459581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17" name="Text 13"/>
          <p:cNvSpPr/>
          <p:nvPr/>
        </p:nvSpPr>
        <p:spPr>
          <a:xfrm>
            <a:off x="6342698" y="6521053"/>
            <a:ext cx="176808" cy="306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6865144" y="6444496"/>
            <a:ext cx="7050286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Minimum matching threshold: 0.45 (Adjustable)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865144" y="6893838"/>
            <a:ext cx="7050286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Different weights improve accuracy for various datasets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865144" y="7343180"/>
            <a:ext cx="7050286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Batch processing with commit intervals for efficiency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643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API Workflow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26794"/>
            <a:ext cx="170021" cy="362903"/>
          </a:xfrm>
          <a:prstGeom prst="roundRect">
            <a:avLst>
              <a:gd name="adj" fmla="val 20012"/>
            </a:avLst>
          </a:prstGeom>
          <a:solidFill>
            <a:srgbClr val="3E3E3E"/>
          </a:solidFill>
          <a:ln/>
        </p:spPr>
      </p:sp>
      <p:sp>
        <p:nvSpPr>
          <p:cNvPr id="4" name="Text 2"/>
          <p:cNvSpPr/>
          <p:nvPr/>
        </p:nvSpPr>
        <p:spPr>
          <a:xfrm>
            <a:off x="1303973" y="2926794"/>
            <a:ext cx="125326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Retrieve names from DB and normalize them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1133951" y="3516511"/>
            <a:ext cx="170021" cy="362903"/>
          </a:xfrm>
          <a:prstGeom prst="roundRect">
            <a:avLst>
              <a:gd name="adj" fmla="val 20012"/>
            </a:avLst>
          </a:prstGeom>
          <a:solidFill>
            <a:srgbClr val="3E3E3E"/>
          </a:solidFill>
          <a:ln/>
        </p:spPr>
      </p:sp>
      <p:sp>
        <p:nvSpPr>
          <p:cNvPr id="6" name="Text 4"/>
          <p:cNvSpPr/>
          <p:nvPr/>
        </p:nvSpPr>
        <p:spPr>
          <a:xfrm>
            <a:off x="1644134" y="3516511"/>
            <a:ext cx="121924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Generate phonetic codes using double metaphone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1474232" y="4106228"/>
            <a:ext cx="170021" cy="362903"/>
          </a:xfrm>
          <a:prstGeom prst="roundRect">
            <a:avLst>
              <a:gd name="adj" fmla="val 20012"/>
            </a:avLst>
          </a:prstGeom>
          <a:solidFill>
            <a:srgbClr val="3E3E3E"/>
          </a:solidFill>
          <a:ln/>
        </p:spPr>
      </p:sp>
      <p:sp>
        <p:nvSpPr>
          <p:cNvPr id="8" name="Text 6"/>
          <p:cNvSpPr/>
          <p:nvPr/>
        </p:nvSpPr>
        <p:spPr>
          <a:xfrm>
            <a:off x="1984415" y="4106228"/>
            <a:ext cx="118521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Transform codes into vectors with TF-IDF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814513" y="4695944"/>
            <a:ext cx="170021" cy="362903"/>
          </a:xfrm>
          <a:prstGeom prst="roundRect">
            <a:avLst>
              <a:gd name="adj" fmla="val 20012"/>
            </a:avLst>
          </a:prstGeom>
          <a:solidFill>
            <a:srgbClr val="3E3E3E"/>
          </a:solidFill>
          <a:ln/>
        </p:spPr>
      </p:sp>
      <p:sp>
        <p:nvSpPr>
          <p:cNvPr id="10" name="Text 8"/>
          <p:cNvSpPr/>
          <p:nvPr/>
        </p:nvSpPr>
        <p:spPr>
          <a:xfrm>
            <a:off x="2324695" y="4695944"/>
            <a:ext cx="115119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 Compute cosine similarity and fuzzy similarity scores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1474232" y="5285661"/>
            <a:ext cx="170021" cy="362903"/>
          </a:xfrm>
          <a:prstGeom prst="roundRect">
            <a:avLst>
              <a:gd name="adj" fmla="val 20012"/>
            </a:avLst>
          </a:prstGeom>
          <a:solidFill>
            <a:srgbClr val="3E3E3E"/>
          </a:solidFill>
          <a:ln/>
        </p:spPr>
      </p:sp>
      <p:sp>
        <p:nvSpPr>
          <p:cNvPr id="12" name="Text 10"/>
          <p:cNvSpPr/>
          <p:nvPr/>
        </p:nvSpPr>
        <p:spPr>
          <a:xfrm>
            <a:off x="1984415" y="5285661"/>
            <a:ext cx="118521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5. Combine scores using tunable weights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1133951" y="5875377"/>
            <a:ext cx="170021" cy="362903"/>
          </a:xfrm>
          <a:prstGeom prst="roundRect">
            <a:avLst>
              <a:gd name="adj" fmla="val 20012"/>
            </a:avLst>
          </a:prstGeom>
          <a:solidFill>
            <a:srgbClr val="3E3E3E"/>
          </a:solidFill>
          <a:ln/>
        </p:spPr>
      </p:sp>
      <p:sp>
        <p:nvSpPr>
          <p:cNvPr id="14" name="Text 12"/>
          <p:cNvSpPr/>
          <p:nvPr/>
        </p:nvSpPr>
        <p:spPr>
          <a:xfrm>
            <a:off x="1644134" y="5875377"/>
            <a:ext cx="121924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 Update DB with match flags and accuracy scores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99586"/>
            <a:ext cx="70679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Benefits &amp; Customer Value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1714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4" name="Text 2"/>
          <p:cNvSpPr/>
          <p:nvPr/>
        </p:nvSpPr>
        <p:spPr>
          <a:xfrm>
            <a:off x="982742" y="3902154"/>
            <a:ext cx="13239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3817144"/>
            <a:ext cx="56709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 accuracy in matching names with spelling variations and typos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28667" y="381714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7" name="Text 5"/>
          <p:cNvSpPr/>
          <p:nvPr/>
        </p:nvSpPr>
        <p:spPr>
          <a:xfrm>
            <a:off x="7589996" y="3902154"/>
            <a:ext cx="18752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8165783" y="3817144"/>
            <a:ext cx="56709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Fully customizable parameters to suit different business needs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3790" y="506456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0" name="Text 8"/>
          <p:cNvSpPr/>
          <p:nvPr/>
        </p:nvSpPr>
        <p:spPr>
          <a:xfrm>
            <a:off x="950714" y="5149572"/>
            <a:ext cx="19633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1530906" y="5064562"/>
            <a:ext cx="51463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Scalable and efficient batch processing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28667" y="506456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0471" y="5149572"/>
            <a:ext cx="20657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8165783" y="5064562"/>
            <a:ext cx="52338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Flexible endpoints for different datasets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5065"/>
            <a:ext cx="65156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 &amp; Next Steps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874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API combines advanced normalization, phonetic matching, TF-IDF, and fuzzy matching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Tunable parameters allow fine-tuning for optimal performance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Ready for deployment to improve data quality and customer satisfaction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4416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b="1" i="1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Q&amp;A and further customization discussions are welcome!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2025-02-24T10:20:58Z</dcterms:created>
  <dcterms:modified xsi:type="dcterms:W3CDTF">2025-02-24T10:20:58Z</dcterms:modified>
</cp:coreProperties>
</file>